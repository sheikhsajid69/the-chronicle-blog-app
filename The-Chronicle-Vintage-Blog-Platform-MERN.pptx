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4.svg" ContentType="image/svg+xml"/>
  <Override PartName="/ppt/media/image5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</p:sldIdLst>
  <p:sldSz cx="14630400" cy="8229600"/>
  <p:notesSz cx="8229600" cy="14630400"/>
  <p:embeddedFontLst>
    <p:embeddedFont>
      <p:font typeface="Montserrat Black" pitchFamily="34" charset="0"/>
      <p:bold r:id="rId13"/>
    </p:embeddedFont>
    <p:embeddedFont>
      <p:font typeface="Montserrat Black" pitchFamily="34" charset="-122"/>
      <p:bold r:id="rId14"/>
    </p:embeddedFont>
    <p:embeddedFont>
      <p:font typeface="Montserrat Black" pitchFamily="34" charset="-120"/>
      <p:bold r:id="rId15"/>
    </p:embeddedFont>
    <p:embeddedFont>
      <p:font typeface="Inconsolata" panose="00000509000000000000" pitchFamily="34" charset="0"/>
      <p:bold r:id="rId16"/>
    </p:embeddedFont>
    <p:embeddedFont>
      <p:font typeface="Inconsolata" panose="00000509000000000000" pitchFamily="34" charset="-122"/>
      <p:bold r:id="rId17"/>
    </p:embeddedFont>
    <p:embeddedFont>
      <p:font typeface="Inconsolata" panose="00000509000000000000" pitchFamily="34" charset="-120"/>
      <p:bold r:id="rId18"/>
    </p:embeddedFont>
    <p:embeddedFont>
      <p:font typeface="Consolas" panose="020B0609020204030204" pitchFamily="34" charset="0"/>
      <p:regular r:id="rId19"/>
      <p:bold r:id="rId20"/>
      <p:italic r:id="rId21"/>
      <p:boldItalic r:id="rId22"/>
    </p:embeddedFont>
    <p:embeddedFont>
      <p:font typeface="Consolas" panose="020B0609020204030204" pitchFamily="34" charset="-122"/>
      <p:regular r:id="rId23"/>
    </p:embeddedFont>
    <p:embeddedFont>
      <p:font typeface="Consolas" panose="020B0609020204030204" pitchFamily="34" charset="-120"/>
      <p:regular r:id="rId24"/>
    </p:embeddedFont>
    <p:embeddedFont>
      <p:font typeface="Calibri" panose="020F0502020204030204" charset="0"/>
      <p:regular r:id="rId25"/>
      <p:bold r:id="rId26"/>
      <p:italic r:id="rId27"/>
      <p:boldItalic r:id="rId2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16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font" Target="fonts/font16.fntdata"/><Relationship Id="rId27" Type="http://schemas.openxmlformats.org/officeDocument/2006/relationships/font" Target="fonts/font15.fntdata"/><Relationship Id="rId26" Type="http://schemas.openxmlformats.org/officeDocument/2006/relationships/font" Target="fonts/font14.fntdata"/><Relationship Id="rId25" Type="http://schemas.openxmlformats.org/officeDocument/2006/relationships/font" Target="fonts/font13.fntdata"/><Relationship Id="rId24" Type="http://schemas.openxmlformats.org/officeDocument/2006/relationships/font" Target="fonts/font12.fntdata"/><Relationship Id="rId23" Type="http://schemas.openxmlformats.org/officeDocument/2006/relationships/font" Target="fonts/font11.fntdata"/><Relationship Id="rId22" Type="http://schemas.openxmlformats.org/officeDocument/2006/relationships/font" Target="fonts/font10.fntdata"/><Relationship Id="rId21" Type="http://schemas.openxmlformats.org/officeDocument/2006/relationships/font" Target="fonts/font9.fntdata"/><Relationship Id="rId20" Type="http://schemas.openxmlformats.org/officeDocument/2006/relationships/font" Target="fonts/font8.fntdata"/><Relationship Id="rId2" Type="http://schemas.openxmlformats.org/officeDocument/2006/relationships/theme" Target="theme/theme1.xml"/><Relationship Id="rId19" Type="http://schemas.openxmlformats.org/officeDocument/2006/relationships/font" Target="fonts/font7.fntdata"/><Relationship Id="rId18" Type="http://schemas.openxmlformats.org/officeDocument/2006/relationships/font" Target="fonts/font6.fntdata"/><Relationship Id="rId17" Type="http://schemas.openxmlformats.org/officeDocument/2006/relationships/font" Target="fonts/font5.fntdata"/><Relationship Id="rId16" Type="http://schemas.openxmlformats.org/officeDocument/2006/relationships/font" Target="fonts/font4.fntdata"/><Relationship Id="rId15" Type="http://schemas.openxmlformats.org/officeDocument/2006/relationships/font" Target="fonts/font3.fntdata"/><Relationship Id="rId14" Type="http://schemas.openxmlformats.org/officeDocument/2006/relationships/font" Target="fonts/font2.fntdata"/><Relationship Id="rId13" Type="http://schemas.openxmlformats.org/officeDocument/2006/relationships/font" Target="fonts/font1.fntdata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1617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8ECE4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1617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2.png"/><Relationship Id="rId4" Type="http://schemas.openxmlformats.org/officeDocument/2006/relationships/image" Target="../media/image6.svg"/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4.xml"/><Relationship Id="rId6" Type="http://schemas.openxmlformats.org/officeDocument/2006/relationships/image" Target="../media/image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1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4517"/>
            <a:ext cx="13042821" cy="14175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The Chronicle – Vintage Blog Platform (MERN)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65703"/>
            <a:ext cx="13042821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A full-stack blogging platform built with the MERN stack, offering a unique blend of vintage aesthetics and modern functionality.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746659"/>
            <a:ext cx="4196358" cy="2039422"/>
          </a:xfrm>
          <a:prstGeom prst="roundRect">
            <a:avLst>
              <a:gd name="adj" fmla="val 448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2032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28224" y="3981093"/>
            <a:ext cx="3727490" cy="7086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Role-Based Access Control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8224" y="4825841"/>
            <a:ext cx="3727490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Secure and managed user permissions.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3746659"/>
            <a:ext cx="4196358" cy="2039422"/>
          </a:xfrm>
          <a:prstGeom prst="roundRect">
            <a:avLst>
              <a:gd name="adj" fmla="val 448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2032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51396" y="3981093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Vintage UI Theme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51396" y="4471511"/>
            <a:ext cx="3727490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A charming, nostalgic user experience.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9640133" y="3746659"/>
            <a:ext cx="4196358" cy="2039422"/>
          </a:xfrm>
          <a:prstGeom prst="roundRect">
            <a:avLst>
              <a:gd name="adj" fmla="val 448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2032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874568" y="3981093"/>
            <a:ext cx="2918460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Responsive Design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874568" y="4471511"/>
            <a:ext cx="3727490" cy="7258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Seamless experience across all devices.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6012894"/>
            <a:ext cx="6407944" cy="1322189"/>
          </a:xfrm>
          <a:prstGeom prst="roundRect">
            <a:avLst>
              <a:gd name="adj" fmla="val 692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2032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28224" y="6247328"/>
            <a:ext cx="2835235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Secure JWT Auth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28224" y="6737747"/>
            <a:ext cx="5939076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Protected routes and user data.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6012894"/>
            <a:ext cx="6407944" cy="1322189"/>
          </a:xfrm>
          <a:prstGeom prst="roundRect">
            <a:avLst>
              <a:gd name="adj" fmla="val 692"/>
            </a:avLst>
          </a:prstGeom>
          <a:solidFill>
            <a:srgbClr val="F8ECE4"/>
          </a:solidFill>
          <a:ln w="7620">
            <a:solidFill>
              <a:srgbClr val="151617"/>
            </a:solidFill>
            <a:prstDash val="solid"/>
          </a:ln>
          <a:effectLst>
            <a:outerShdw dist="2032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662982" y="6247328"/>
            <a:ext cx="3417213" cy="35433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Full CRUD Capabilities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662982" y="6737747"/>
            <a:ext cx="5939076" cy="3629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51617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Complete control over blog content.</a:t>
            </a:r>
            <a:endParaRPr lang="en-US" sz="175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06300" y="7458075"/>
            <a:ext cx="2324100" cy="7715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54261"/>
            <a:ext cx="4363045" cy="4607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9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Features &amp; User Roles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93790" y="1583531"/>
            <a:ext cx="2211467" cy="2763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Key Features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93790" y="2025729"/>
            <a:ext cx="6341626" cy="938808"/>
          </a:xfrm>
          <a:prstGeom prst="roundRect">
            <a:avLst>
              <a:gd name="adj" fmla="val 7792"/>
            </a:avLst>
          </a:prstGeom>
          <a:solidFill>
            <a:srgbClr val="F8ECE4"/>
          </a:solidFill>
          <a:ln w="15240">
            <a:solidFill>
              <a:srgbClr val="151617"/>
            </a:solidFill>
            <a:prstDash val="solid"/>
          </a:ln>
          <a:effectLst>
            <a:outerShdw dist="1270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8550" y="2025729"/>
            <a:ext cx="60960" cy="938808"/>
          </a:xfrm>
          <a:prstGeom prst="roundRect">
            <a:avLst>
              <a:gd name="adj" fmla="val 15000"/>
            </a:avLst>
          </a:prstGeom>
          <a:solidFill>
            <a:srgbClr val="151617"/>
          </a:solidFill>
        </p:spPr>
      </p:sp>
      <p:sp>
        <p:nvSpPr>
          <p:cNvPr id="6" name="Text 4"/>
          <p:cNvSpPr/>
          <p:nvPr/>
        </p:nvSpPr>
        <p:spPr>
          <a:xfrm>
            <a:off x="1002149" y="2188369"/>
            <a:ext cx="1842968" cy="2303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Vintage UI Styling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002149" y="2566154"/>
            <a:ext cx="5970627" cy="2357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Tailwind CSS v4 for a classic look.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93790" y="3111937"/>
            <a:ext cx="6341626" cy="938808"/>
          </a:xfrm>
          <a:prstGeom prst="roundRect">
            <a:avLst>
              <a:gd name="adj" fmla="val 7792"/>
            </a:avLst>
          </a:prstGeom>
          <a:solidFill>
            <a:srgbClr val="F8ECE4"/>
          </a:solidFill>
          <a:ln w="15240">
            <a:solidFill>
              <a:srgbClr val="151617"/>
            </a:solidFill>
            <a:prstDash val="solid"/>
          </a:ln>
          <a:effectLst>
            <a:outerShdw dist="1270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8550" y="3111937"/>
            <a:ext cx="60960" cy="938808"/>
          </a:xfrm>
          <a:prstGeom prst="roundRect">
            <a:avLst>
              <a:gd name="adj" fmla="val 15000"/>
            </a:avLst>
          </a:prstGeom>
          <a:solidFill>
            <a:srgbClr val="151617"/>
          </a:solidFill>
        </p:spPr>
      </p:sp>
      <p:sp>
        <p:nvSpPr>
          <p:cNvPr id="10" name="Text 8"/>
          <p:cNvSpPr/>
          <p:nvPr/>
        </p:nvSpPr>
        <p:spPr>
          <a:xfrm>
            <a:off x="1002149" y="3274576"/>
            <a:ext cx="2015252" cy="2303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JWT Authentication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002149" y="3652361"/>
            <a:ext cx="5970627" cy="2357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Secure user sessions and protected routes.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93790" y="4198144"/>
            <a:ext cx="6341626" cy="938808"/>
          </a:xfrm>
          <a:prstGeom prst="roundRect">
            <a:avLst>
              <a:gd name="adj" fmla="val 7792"/>
            </a:avLst>
          </a:prstGeom>
          <a:solidFill>
            <a:srgbClr val="F8ECE4"/>
          </a:solidFill>
          <a:ln w="15240">
            <a:solidFill>
              <a:srgbClr val="151617"/>
            </a:solidFill>
            <a:prstDash val="solid"/>
          </a:ln>
          <a:effectLst>
            <a:outerShdw dist="1270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8550" y="4198144"/>
            <a:ext cx="60960" cy="938808"/>
          </a:xfrm>
          <a:prstGeom prst="roundRect">
            <a:avLst>
              <a:gd name="adj" fmla="val 15000"/>
            </a:avLst>
          </a:prstGeom>
          <a:solidFill>
            <a:srgbClr val="151617"/>
          </a:solidFill>
        </p:spPr>
      </p:sp>
      <p:sp>
        <p:nvSpPr>
          <p:cNvPr id="14" name="Text 12"/>
          <p:cNvSpPr/>
          <p:nvPr/>
        </p:nvSpPr>
        <p:spPr>
          <a:xfrm>
            <a:off x="1002149" y="4360783"/>
            <a:ext cx="2449949" cy="2303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CRUD Post Management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002149" y="4738568"/>
            <a:ext cx="5970627" cy="2357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Create, Read, Update, Delete blog posts easily.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3790" y="5284351"/>
            <a:ext cx="6341626" cy="938808"/>
          </a:xfrm>
          <a:prstGeom prst="roundRect">
            <a:avLst>
              <a:gd name="adj" fmla="val 7792"/>
            </a:avLst>
          </a:prstGeom>
          <a:solidFill>
            <a:srgbClr val="F8ECE4"/>
          </a:solidFill>
          <a:ln w="15240">
            <a:solidFill>
              <a:srgbClr val="151617"/>
            </a:solidFill>
            <a:prstDash val="solid"/>
          </a:ln>
          <a:effectLst>
            <a:outerShdw dist="1270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8550" y="5284351"/>
            <a:ext cx="60960" cy="938808"/>
          </a:xfrm>
          <a:prstGeom prst="roundRect">
            <a:avLst>
              <a:gd name="adj" fmla="val 15000"/>
            </a:avLst>
          </a:prstGeom>
          <a:solidFill>
            <a:srgbClr val="151617"/>
          </a:solidFill>
        </p:spPr>
      </p:sp>
      <p:sp>
        <p:nvSpPr>
          <p:cNvPr id="18" name="Text 16"/>
          <p:cNvSpPr/>
          <p:nvPr/>
        </p:nvSpPr>
        <p:spPr>
          <a:xfrm>
            <a:off x="1002149" y="5446990"/>
            <a:ext cx="1842968" cy="2303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Admin Dashboard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002149" y="5824776"/>
            <a:ext cx="5970627" cy="2357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Centralized control for administrators.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93790" y="6370558"/>
            <a:ext cx="6341626" cy="938808"/>
          </a:xfrm>
          <a:prstGeom prst="roundRect">
            <a:avLst>
              <a:gd name="adj" fmla="val 7792"/>
            </a:avLst>
          </a:prstGeom>
          <a:solidFill>
            <a:srgbClr val="F8ECE4"/>
          </a:solidFill>
          <a:ln w="15240">
            <a:solidFill>
              <a:srgbClr val="151617"/>
            </a:solidFill>
            <a:prstDash val="solid"/>
          </a:ln>
          <a:effectLst>
            <a:outerShdw dist="12700" dir="2700000" algn="bl" rotWithShape="0">
              <a:srgbClr val="151617">
                <a:alpha val="10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78550" y="6370558"/>
            <a:ext cx="60960" cy="938808"/>
          </a:xfrm>
          <a:prstGeom prst="roundRect">
            <a:avLst>
              <a:gd name="adj" fmla="val 15000"/>
            </a:avLst>
          </a:prstGeom>
          <a:solidFill>
            <a:srgbClr val="151617"/>
          </a:solidFill>
        </p:spPr>
      </p:sp>
      <p:sp>
        <p:nvSpPr>
          <p:cNvPr id="22" name="Text 20"/>
          <p:cNvSpPr/>
          <p:nvPr/>
        </p:nvSpPr>
        <p:spPr>
          <a:xfrm>
            <a:off x="1002149" y="6533198"/>
            <a:ext cx="1897023" cy="2303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Responsive Design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002149" y="6910983"/>
            <a:ext cx="5970627" cy="2357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Optimized for all screen sizes.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502604" y="1583531"/>
            <a:ext cx="2211467" cy="2763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User Roles</a:t>
            </a:r>
            <a:endParaRPr lang="en-US" sz="170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02604" y="2025729"/>
            <a:ext cx="368498" cy="368498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502604" y="2578418"/>
            <a:ext cx="1842968" cy="2303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Reader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7502604" y="2956203"/>
            <a:ext cx="6341626" cy="2357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View published posts, leave comments.</a:t>
            </a:r>
            <a:endParaRPr lang="en-US" sz="1150" dirty="0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02604" y="3486745"/>
            <a:ext cx="368498" cy="368498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502604" y="4039433"/>
            <a:ext cx="1842968" cy="2303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Author</a:t>
            </a:r>
            <a:endParaRPr lang="en-US" sz="1450" dirty="0"/>
          </a:p>
        </p:txBody>
      </p:sp>
      <p:sp>
        <p:nvSpPr>
          <p:cNvPr id="30" name="Text 26"/>
          <p:cNvSpPr/>
          <p:nvPr/>
        </p:nvSpPr>
        <p:spPr>
          <a:xfrm>
            <a:off x="7502604" y="4417219"/>
            <a:ext cx="6341626" cy="2357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Create, edit, and publish their own posts.</a:t>
            </a:r>
            <a:endParaRPr lang="en-US" sz="1150" dirty="0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02604" y="4947761"/>
            <a:ext cx="368498" cy="368498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7502604" y="5500449"/>
            <a:ext cx="1842968" cy="23038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Admin</a:t>
            </a:r>
            <a:endParaRPr lang="en-US" sz="1450" dirty="0"/>
          </a:p>
        </p:txBody>
      </p:sp>
      <p:sp>
        <p:nvSpPr>
          <p:cNvPr id="33" name="Text 28"/>
          <p:cNvSpPr/>
          <p:nvPr/>
        </p:nvSpPr>
        <p:spPr>
          <a:xfrm>
            <a:off x="7502604" y="5878235"/>
            <a:ext cx="6341626" cy="23574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151617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Full control over users, posts, and settings.</a:t>
            </a:r>
            <a:endParaRPr lang="en-US" sz="1150" dirty="0"/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06300" y="7468235"/>
            <a:ext cx="2324100" cy="7715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65678"/>
            <a:ext cx="4252913" cy="5316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Tech Stack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793790" y="1622465"/>
            <a:ext cx="2551748" cy="318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Frontend</a:t>
            </a:r>
            <a:endParaRPr lang="en-US" sz="2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132648"/>
            <a:ext cx="850583" cy="10479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14393" y="2302669"/>
            <a:ext cx="2126456" cy="2657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React 19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1814393" y="2738437"/>
            <a:ext cx="5293281" cy="2721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Dynamic UI components.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3180636"/>
            <a:ext cx="850583" cy="10479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14393" y="3350657"/>
            <a:ext cx="2126456" cy="2657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Vite 7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1814393" y="3786426"/>
            <a:ext cx="5293281" cy="2721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Fast build tool and dev server.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228624"/>
            <a:ext cx="850583" cy="10479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814393" y="4398645"/>
            <a:ext cx="2126456" cy="2657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Tailwind CSS 4</a:t>
            </a:r>
            <a:endParaRPr lang="en-US" sz="1650" dirty="0"/>
          </a:p>
        </p:txBody>
      </p:sp>
      <p:sp>
        <p:nvSpPr>
          <p:cNvPr id="12" name="Text 7"/>
          <p:cNvSpPr/>
          <p:nvPr/>
        </p:nvSpPr>
        <p:spPr>
          <a:xfrm>
            <a:off x="1814393" y="4834414"/>
            <a:ext cx="5293281" cy="2721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Utility-first styling.</a:t>
            </a:r>
            <a:endParaRPr lang="en-US" sz="13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276612"/>
            <a:ext cx="850583" cy="104798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814393" y="5446633"/>
            <a:ext cx="2126456" cy="2657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Axios</a:t>
            </a:r>
            <a:endParaRPr lang="en-US" sz="1650" dirty="0"/>
          </a:p>
        </p:txBody>
      </p:sp>
      <p:sp>
        <p:nvSpPr>
          <p:cNvPr id="15" name="Text 9"/>
          <p:cNvSpPr/>
          <p:nvPr/>
        </p:nvSpPr>
        <p:spPr>
          <a:xfrm>
            <a:off x="1814393" y="5882402"/>
            <a:ext cx="5293281" cy="2721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HTTP client for API calls.</a:t>
            </a:r>
            <a:endParaRPr lang="en-US" sz="13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6324600"/>
            <a:ext cx="850583" cy="104798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814393" y="6494621"/>
            <a:ext cx="2330410" cy="2657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React Router DOM 7</a:t>
            </a:r>
            <a:endParaRPr lang="en-US" sz="1650" dirty="0"/>
          </a:p>
        </p:txBody>
      </p:sp>
      <p:sp>
        <p:nvSpPr>
          <p:cNvPr id="18" name="Text 11"/>
          <p:cNvSpPr/>
          <p:nvPr/>
        </p:nvSpPr>
        <p:spPr>
          <a:xfrm>
            <a:off x="1814393" y="6930390"/>
            <a:ext cx="5293281" cy="2721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Declarative routing.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7530346" y="1622465"/>
            <a:ext cx="2551748" cy="318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Backend</a:t>
            </a:r>
            <a:endParaRPr lang="en-US" sz="20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30346" y="2132648"/>
            <a:ext cx="850583" cy="104798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550950" y="2302669"/>
            <a:ext cx="2126456" cy="2657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Node.js</a:t>
            </a:r>
            <a:endParaRPr lang="en-US" sz="1650" dirty="0"/>
          </a:p>
        </p:txBody>
      </p:sp>
      <p:sp>
        <p:nvSpPr>
          <p:cNvPr id="22" name="Text 14"/>
          <p:cNvSpPr/>
          <p:nvPr/>
        </p:nvSpPr>
        <p:spPr>
          <a:xfrm>
            <a:off x="8550950" y="2738437"/>
            <a:ext cx="5293281" cy="2721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Server-side runtime environment.</a:t>
            </a:r>
            <a:endParaRPr lang="en-US" sz="130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0346" y="3180636"/>
            <a:ext cx="850583" cy="1047988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8550950" y="3350657"/>
            <a:ext cx="2126456" cy="2657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Express 4</a:t>
            </a:r>
            <a:endParaRPr lang="en-US" sz="1650" dirty="0"/>
          </a:p>
        </p:txBody>
      </p:sp>
      <p:sp>
        <p:nvSpPr>
          <p:cNvPr id="25" name="Text 16"/>
          <p:cNvSpPr/>
          <p:nvPr/>
        </p:nvSpPr>
        <p:spPr>
          <a:xfrm>
            <a:off x="8550950" y="3786426"/>
            <a:ext cx="5293281" cy="2721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Web application framework.</a:t>
            </a:r>
            <a:endParaRPr lang="en-US" sz="1300" dirty="0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0346" y="4228624"/>
            <a:ext cx="850583" cy="1047988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8550950" y="4398645"/>
            <a:ext cx="2830116" cy="2657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MongoDB &amp; Mongoose 8</a:t>
            </a:r>
            <a:endParaRPr lang="en-US" sz="1650" dirty="0"/>
          </a:p>
        </p:txBody>
      </p:sp>
      <p:sp>
        <p:nvSpPr>
          <p:cNvPr id="28" name="Text 18"/>
          <p:cNvSpPr/>
          <p:nvPr/>
        </p:nvSpPr>
        <p:spPr>
          <a:xfrm>
            <a:off x="8550950" y="4834414"/>
            <a:ext cx="5293281" cy="2721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NoSQL database and ODM.</a:t>
            </a:r>
            <a:endParaRPr lang="en-US" sz="1300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0346" y="5276612"/>
            <a:ext cx="850583" cy="1047988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8550950" y="5446633"/>
            <a:ext cx="2126456" cy="2657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JWT</a:t>
            </a:r>
            <a:endParaRPr lang="en-US" sz="1650" dirty="0"/>
          </a:p>
        </p:txBody>
      </p:sp>
      <p:sp>
        <p:nvSpPr>
          <p:cNvPr id="31" name="Text 20"/>
          <p:cNvSpPr/>
          <p:nvPr/>
        </p:nvSpPr>
        <p:spPr>
          <a:xfrm>
            <a:off x="8550950" y="5882402"/>
            <a:ext cx="5293281" cy="2721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JSON Web Tokens for authentication.</a:t>
            </a:r>
            <a:endParaRPr lang="en-US" sz="1300" dirty="0"/>
          </a:p>
        </p:txBody>
      </p:sp>
      <p:pic>
        <p:nvPicPr>
          <p:cNvPr id="32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0346" y="6324600"/>
            <a:ext cx="850583" cy="1047988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8550950" y="6494621"/>
            <a:ext cx="2126456" cy="26574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bcryptjs</a:t>
            </a:r>
            <a:endParaRPr lang="en-US" sz="1650" dirty="0"/>
          </a:p>
        </p:txBody>
      </p:sp>
      <p:sp>
        <p:nvSpPr>
          <p:cNvPr id="34" name="Text 22"/>
          <p:cNvSpPr/>
          <p:nvPr/>
        </p:nvSpPr>
        <p:spPr>
          <a:xfrm>
            <a:off x="8550950" y="6930390"/>
            <a:ext cx="5293281" cy="27217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151617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Password hashing library.</a:t>
            </a:r>
            <a:endParaRPr lang="en-US" sz="1300" dirty="0"/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06300" y="7458075"/>
            <a:ext cx="2324100" cy="7715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53264"/>
            <a:ext cx="4732258" cy="4961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Setup &amp; API Overview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2246233"/>
            <a:ext cx="2381607" cy="2976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Quick Setup Steps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793790" y="2702600"/>
            <a:ext cx="6327815" cy="2616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SzPct val="100000"/>
              <a:buFont typeface="+mj-lt"/>
              <a:buNone/>
            </a:pPr>
            <a:r>
              <a:rPr lang="en-US" sz="1250" b="1" dirty="0">
                <a:solidFill>
                  <a:srgbClr val="151617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Clone Repository:</a:t>
            </a:r>
            <a:r>
              <a:rPr lang="en-US" sz="1250" dirty="0">
                <a:solidFill>
                  <a:srgbClr val="151617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 </a:t>
            </a:r>
            <a:r>
              <a:rPr lang="en-US" sz="1250" dirty="0">
                <a:solidFill>
                  <a:srgbClr val="151617"/>
                </a:solidFill>
                <a:highlight>
                  <a:srgbClr val="EBDFD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git clone [repo-url]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93790" y="3019782"/>
            <a:ext cx="6327815" cy="2616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SzPct val="100000"/>
              <a:buFont typeface="+mj-lt"/>
              <a:buNone/>
            </a:pPr>
            <a:r>
              <a:rPr lang="en-US" sz="1250" b="1" dirty="0">
                <a:solidFill>
                  <a:srgbClr val="151617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Install Dependencies:</a:t>
            </a:r>
            <a:r>
              <a:rPr lang="en-US" sz="1250" dirty="0">
                <a:solidFill>
                  <a:srgbClr val="151617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 </a:t>
            </a:r>
            <a:r>
              <a:rPr lang="en-US" sz="1250" dirty="0">
                <a:solidFill>
                  <a:srgbClr val="151617"/>
                </a:solidFill>
                <a:highlight>
                  <a:srgbClr val="EBDFD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npm install</a:t>
            </a:r>
            <a:r>
              <a:rPr lang="en-US" sz="1250" dirty="0">
                <a:solidFill>
                  <a:srgbClr val="151617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 in both root and client directories.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93790" y="3336965"/>
            <a:ext cx="6327815" cy="2616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SzPct val="100000"/>
              <a:buFont typeface="+mj-lt"/>
              <a:buNone/>
            </a:pPr>
            <a:r>
              <a:rPr lang="en-US" sz="1250" b="1" dirty="0">
                <a:solidFill>
                  <a:srgbClr val="151617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Environment Variables:</a:t>
            </a:r>
            <a:r>
              <a:rPr lang="en-US" sz="1250" dirty="0">
                <a:solidFill>
                  <a:srgbClr val="151617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 Create </a:t>
            </a:r>
            <a:r>
              <a:rPr lang="en-US" sz="1250" dirty="0">
                <a:solidFill>
                  <a:srgbClr val="151617"/>
                </a:solidFill>
                <a:highlight>
                  <a:srgbClr val="EBDFD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.env</a:t>
            </a:r>
            <a:r>
              <a:rPr lang="en-US" sz="1250" dirty="0">
                <a:solidFill>
                  <a:srgbClr val="151617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 files as per documentation.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93790" y="3654147"/>
            <a:ext cx="6327815" cy="2616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SzPct val="100000"/>
              <a:buFont typeface="+mj-lt"/>
              <a:buNone/>
            </a:pPr>
            <a:r>
              <a:rPr lang="en-US" sz="1250" b="1" dirty="0">
                <a:solidFill>
                  <a:srgbClr val="151617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Run Backend:</a:t>
            </a:r>
            <a:r>
              <a:rPr lang="en-US" sz="1250" dirty="0">
                <a:solidFill>
                  <a:srgbClr val="151617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 </a:t>
            </a:r>
            <a:r>
              <a:rPr lang="en-US" sz="1250" dirty="0">
                <a:solidFill>
                  <a:srgbClr val="151617"/>
                </a:solidFill>
                <a:highlight>
                  <a:srgbClr val="EBDFD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npm start</a:t>
            </a:r>
            <a:r>
              <a:rPr lang="en-US" sz="1250" dirty="0">
                <a:solidFill>
                  <a:srgbClr val="151617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 in root.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93790" y="3971330"/>
            <a:ext cx="6327815" cy="2616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SzPct val="100000"/>
              <a:buFont typeface="+mj-lt"/>
              <a:buNone/>
            </a:pPr>
            <a:r>
              <a:rPr lang="en-US" sz="1250" b="1" dirty="0">
                <a:solidFill>
                  <a:srgbClr val="151617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Run Frontend:</a:t>
            </a:r>
            <a:r>
              <a:rPr lang="en-US" sz="1250" dirty="0">
                <a:solidFill>
                  <a:srgbClr val="151617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 </a:t>
            </a:r>
            <a:r>
              <a:rPr lang="en-US" sz="1250" dirty="0">
                <a:solidFill>
                  <a:srgbClr val="151617"/>
                </a:solidFill>
                <a:highlight>
                  <a:srgbClr val="EBDFD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npm run dev</a:t>
            </a:r>
            <a:r>
              <a:rPr lang="en-US" sz="1250" dirty="0">
                <a:solidFill>
                  <a:srgbClr val="151617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 in client.</a:t>
            </a:r>
            <a:endParaRPr lang="en-US" sz="12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4411623"/>
            <a:ext cx="2286000" cy="22860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516416" y="2246233"/>
            <a:ext cx="2393633" cy="2976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Key API Endpoints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7516416" y="2722483"/>
            <a:ext cx="158710" cy="1983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516416" y="2969300"/>
            <a:ext cx="6327815" cy="22860"/>
          </a:xfrm>
          <a:prstGeom prst="rect">
            <a:avLst/>
          </a:prstGeom>
          <a:solidFill>
            <a:srgbClr val="151617"/>
          </a:solidFill>
        </p:spPr>
      </p:sp>
      <p:sp>
        <p:nvSpPr>
          <p:cNvPr id="13" name="Text 10"/>
          <p:cNvSpPr/>
          <p:nvPr/>
        </p:nvSpPr>
        <p:spPr>
          <a:xfrm>
            <a:off x="7516416" y="3094315"/>
            <a:ext cx="1984653" cy="2480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Authentication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7516416" y="3501033"/>
            <a:ext cx="6327815" cy="2616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1617"/>
                </a:solidFill>
                <a:highlight>
                  <a:srgbClr val="EBDFD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/api/auth</a:t>
            </a:r>
            <a:r>
              <a:rPr lang="en-US" sz="1250" dirty="0">
                <a:solidFill>
                  <a:srgbClr val="151617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 for login, register, logout.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7516416" y="4040505"/>
            <a:ext cx="158710" cy="1983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516416" y="4287322"/>
            <a:ext cx="6327815" cy="22860"/>
          </a:xfrm>
          <a:prstGeom prst="rect">
            <a:avLst/>
          </a:prstGeom>
          <a:solidFill>
            <a:srgbClr val="151617"/>
          </a:solidFill>
        </p:spPr>
      </p:sp>
      <p:sp>
        <p:nvSpPr>
          <p:cNvPr id="17" name="Text 14"/>
          <p:cNvSpPr/>
          <p:nvPr/>
        </p:nvSpPr>
        <p:spPr>
          <a:xfrm>
            <a:off x="7516416" y="4412337"/>
            <a:ext cx="1984653" cy="2480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Posts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7516416" y="4819055"/>
            <a:ext cx="6327815" cy="2616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1617"/>
                </a:solidFill>
                <a:highlight>
                  <a:srgbClr val="EBDFD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/api/posts</a:t>
            </a:r>
            <a:r>
              <a:rPr lang="en-US" sz="1250" dirty="0">
                <a:solidFill>
                  <a:srgbClr val="151617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 for CRUD operations on blog posts.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7516416" y="5358527"/>
            <a:ext cx="158710" cy="19835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1617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7516416" y="5605343"/>
            <a:ext cx="6327815" cy="22860"/>
          </a:xfrm>
          <a:prstGeom prst="rect">
            <a:avLst/>
          </a:prstGeom>
          <a:solidFill>
            <a:srgbClr val="151617"/>
          </a:solidFill>
        </p:spPr>
      </p:sp>
      <p:sp>
        <p:nvSpPr>
          <p:cNvPr id="21" name="Text 18"/>
          <p:cNvSpPr/>
          <p:nvPr/>
        </p:nvSpPr>
        <p:spPr>
          <a:xfrm>
            <a:off x="7516416" y="5730359"/>
            <a:ext cx="2191345" cy="24800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151617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Admin Management</a:t>
            </a:r>
            <a:endParaRPr lang="en-US" sz="1550" dirty="0"/>
          </a:p>
        </p:txBody>
      </p:sp>
      <p:sp>
        <p:nvSpPr>
          <p:cNvPr id="22" name="Text 19"/>
          <p:cNvSpPr/>
          <p:nvPr/>
        </p:nvSpPr>
        <p:spPr>
          <a:xfrm>
            <a:off x="7516416" y="6137077"/>
            <a:ext cx="6327815" cy="2616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151617"/>
                </a:solidFill>
                <a:highlight>
                  <a:srgbClr val="EBDFD7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/api/admin</a:t>
            </a:r>
            <a:r>
              <a:rPr lang="en-US" sz="1250" dirty="0">
                <a:solidFill>
                  <a:srgbClr val="151617"/>
                </a:solidFill>
                <a:latin typeface="Inconsolata" panose="00000509000000000000" pitchFamily="34" charset="0"/>
                <a:ea typeface="Inconsolata" panose="00000509000000000000" pitchFamily="34" charset="-122"/>
                <a:cs typeface="Inconsolata" panose="00000509000000000000" pitchFamily="34" charset="-120"/>
              </a:rPr>
              <a:t> for user and content control.</a:t>
            </a:r>
            <a:endParaRPr lang="en-US" sz="1250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6300" y="7458075"/>
            <a:ext cx="2324100" cy="7715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02826"/>
            <a:ext cx="6353294" cy="602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Project Structure and UI</a:t>
            </a:r>
            <a:endParaRPr lang="en-US" sz="3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375" y="1293495"/>
            <a:ext cx="3841115" cy="5960745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8227" y="2028468"/>
            <a:ext cx="7985046" cy="449151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449842" y="6519624"/>
            <a:ext cx="9394269" cy="3083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793790" y="7218283"/>
            <a:ext cx="13042821" cy="3083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500" dirty="0"/>
          </a:p>
        </p:txBody>
      </p:sp>
      <p:sp>
        <p:nvSpPr>
          <p:cNvPr id="8" name="Rectangles 7"/>
          <p:cNvSpPr/>
          <p:nvPr/>
        </p:nvSpPr>
        <p:spPr>
          <a:xfrm>
            <a:off x="12759055" y="7526655"/>
            <a:ext cx="1823085" cy="655955"/>
          </a:xfrm>
          <a:prstGeom prst="rect">
            <a:avLst/>
          </a:prstGeom>
          <a:solidFill>
            <a:srgbClr val="151617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Rectangles 8"/>
          <p:cNvSpPr/>
          <p:nvPr/>
        </p:nvSpPr>
        <p:spPr>
          <a:xfrm>
            <a:off x="460375" y="6598285"/>
            <a:ext cx="1823085" cy="655955"/>
          </a:xfrm>
          <a:prstGeom prst="rect">
            <a:avLst/>
          </a:prstGeom>
          <a:solidFill>
            <a:srgbClr val="151617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911423"/>
            <a:ext cx="3428524" cy="1928455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5306" y="911423"/>
            <a:ext cx="3429595" cy="192905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305306" y="3057287"/>
            <a:ext cx="4034909" cy="3083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500" dirty="0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8132" y="911423"/>
            <a:ext cx="3428524" cy="1928455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9818132" y="3056692"/>
            <a:ext cx="4033599" cy="3083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500" dirty="0"/>
          </a:p>
        </p:txBody>
      </p:sp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3972758"/>
            <a:ext cx="3352681" cy="1885831"/>
          </a:xfrm>
          <a:prstGeom prst="rect">
            <a:avLst/>
          </a:prstGeom>
        </p:spPr>
      </p:pic>
      <p:pic>
        <p:nvPicPr>
          <p:cNvPr id="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6128" y="3972758"/>
            <a:ext cx="3505438" cy="1971794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5216128" y="6161365"/>
            <a:ext cx="4124087" cy="3083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500" dirty="0"/>
          </a:p>
        </p:txBody>
      </p:sp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18132" y="3972758"/>
            <a:ext cx="3428524" cy="1928455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9818132" y="6118027"/>
            <a:ext cx="4033599" cy="3083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500" dirty="0"/>
          </a:p>
        </p:txBody>
      </p:sp>
      <p:sp>
        <p:nvSpPr>
          <p:cNvPr id="12" name="Text 4"/>
          <p:cNvSpPr/>
          <p:nvPr/>
        </p:nvSpPr>
        <p:spPr>
          <a:xfrm>
            <a:off x="793790" y="6932414"/>
            <a:ext cx="4820007" cy="602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Pages</a:t>
            </a:r>
            <a:endParaRPr lang="en-US" sz="3750" dirty="0"/>
          </a:p>
        </p:txBody>
      </p:sp>
      <p:sp>
        <p:nvSpPr>
          <p:cNvPr id="13" name="Rectangles 12"/>
          <p:cNvSpPr/>
          <p:nvPr/>
        </p:nvSpPr>
        <p:spPr>
          <a:xfrm>
            <a:off x="12759055" y="7526655"/>
            <a:ext cx="1823085" cy="655955"/>
          </a:xfrm>
          <a:prstGeom prst="rect">
            <a:avLst/>
          </a:prstGeom>
          <a:solidFill>
            <a:srgbClr val="151617"/>
          </a:solidFill>
          <a:ln w="12700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1782</Words>
  <Application>WPS Presentation</Application>
  <PresentationFormat>On-screen Show (16:9)</PresentationFormat>
  <Paragraphs>146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8" baseType="lpstr">
      <vt:lpstr>Arial</vt:lpstr>
      <vt:lpstr>SimSun</vt:lpstr>
      <vt:lpstr>Wingdings</vt:lpstr>
      <vt:lpstr>Montserrat Black</vt:lpstr>
      <vt:lpstr>Montserrat Black</vt:lpstr>
      <vt:lpstr>Montserrat Black</vt:lpstr>
      <vt:lpstr>Inconsolata</vt:lpstr>
      <vt:lpstr>Inconsolata</vt:lpstr>
      <vt:lpstr>Inconsolata</vt:lpstr>
      <vt:lpstr>Consolas</vt:lpstr>
      <vt:lpstr>Consolas</vt:lpstr>
      <vt:lpstr>Consolas</vt:lpstr>
      <vt:lpstr>Montserrat Light</vt:lpstr>
      <vt:lpstr>Segoe Print</vt:lpstr>
      <vt:lpstr>Montserrat Light</vt:lpstr>
      <vt:lpstr>Montserrat Light</vt:lpstr>
      <vt:lpstr>Calibri</vt:lpstr>
      <vt:lpstr>Microsoft YaHei</vt:lpstr>
      <vt:lpstr>Arial Unicode MS</vt:lpstr>
      <vt:lpstr>Calibri Light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sajid CES</cp:lastModifiedBy>
  <cp:revision>2</cp:revision>
  <dcterms:created xsi:type="dcterms:W3CDTF">2025-11-29T06:00:00Z</dcterms:created>
  <dcterms:modified xsi:type="dcterms:W3CDTF">2025-11-29T06:09:31Z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56C7532AE2894292BBCFC0C840343382_12</vt:lpwstr>
  </property>
  <property fmtid="{D5CDD505-2E9C-101B-9397-08002B2CF9AE}" pid="3" name="KSOProductBuildVer">
    <vt:lpwstr>1033-12.2.0.23155</vt:lpwstr>
  </property>
</Properties>
</file>